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7" r:id="rId6"/>
    <p:sldId id="265" r:id="rId7"/>
    <p:sldId id="270" r:id="rId8"/>
    <p:sldId id="269" r:id="rId9"/>
    <p:sldId id="260" r:id="rId10"/>
    <p:sldId id="266" r:id="rId11"/>
    <p:sldId id="261" r:id="rId12"/>
    <p:sldId id="271" r:id="rId13"/>
    <p:sldId id="275" r:id="rId14"/>
    <p:sldId id="276" r:id="rId15"/>
    <p:sldId id="277" r:id="rId16"/>
    <p:sldId id="273" r:id="rId17"/>
    <p:sldId id="278" r:id="rId18"/>
    <p:sldId id="274" r:id="rId19"/>
    <p:sldId id="262" r:id="rId20"/>
    <p:sldId id="283" r:id="rId21"/>
    <p:sldId id="268" r:id="rId22"/>
    <p:sldId id="272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89" r:id="rId33"/>
    <p:sldId id="263" r:id="rId34"/>
    <p:sldId id="264" r:id="rId35"/>
    <p:sldId id="290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65034"/>
  </p:normalViewPr>
  <p:slideViewPr>
    <p:cSldViewPr snapToGrid="0">
      <p:cViewPr varScale="1">
        <p:scale>
          <a:sx n="81" d="100"/>
          <a:sy n="81" d="100"/>
        </p:scale>
        <p:origin x="2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07F0E3-6E92-1BA6-D6C9-197987AA1C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A667A-803A-EAE3-BD17-21811BF9A9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D9C67-5D4C-EA4F-9DB5-CB41D135647E}" type="datetimeFigureOut">
              <a:rPr lang="en-US" smtClean="0"/>
              <a:t>8/2/25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9BD80-7152-D8D9-A319-84C12460A1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F7A25-2B36-F292-3BED-A08B98A1D8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4C617-92BF-5346-9DB9-C944EAEC5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51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8CDEB-3133-EA48-8F6D-3B68655F84A7}" type="datetimeFigureOut">
              <a:rPr kumimoji="1" lang="zh-CN" altLang="en-US" smtClean="0"/>
              <a:t>2025/8/2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FC172-E24A-974B-A0E4-B822730DC9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0625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5659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8858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357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8646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0494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211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3743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8653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3665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0839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42813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56827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FC172-E24A-974B-A0E4-B822730DC9E8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2884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C364B-8946-5742-A945-5CF1A6D81303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B5575-52A9-A640-A2CD-9D681317EA66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7B5C5-2FFE-BA4D-963F-1193A7FFB757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9EC25-AAF3-1E40-ADC9-F4C8D1851AC2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8514-8E94-C443-99F4-893409ED4ECB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D9D3A-54FC-C24A-9606-E1B1008B1CF0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EB1C-1F4B-3343-AE0C-BA92653B7E41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3D9B-3929-2243-B43C-86B35F8B809B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3898-1D96-1744-9926-2E177F55FF4F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878B1-5770-CF47-8058-AA10A56C3232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D5185-284E-7942-967F-0161D73E2658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989A9-F3C3-444C-92F4-370F09058756}" type="datetime1">
              <a:rPr kumimoji="1" lang="en-GB" altLang="zh-CN" smtClean="0"/>
              <a:t>02/08/2025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E793C-731C-B342-A27F-CBBE4C52F3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4645" y="1556370"/>
            <a:ext cx="11582710" cy="190831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zh-CN" sz="5400" b="1" dirty="0">
                <a:latin typeface="Arial" panose="020B0604020202090204" pitchFamily="34" charset="0"/>
                <a:cs typeface="Arial" panose="020B0604020202090204" pitchFamily="34" charset="0"/>
              </a:rPr>
              <a:t>English Premier League (EPL)</a:t>
            </a:r>
            <a:br>
              <a:rPr lang="en-US" altLang="zh-CN" sz="5400" b="1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en-US" altLang="zh-CN" sz="5400" b="1" dirty="0">
                <a:latin typeface="Arial" panose="020B0604020202090204" pitchFamily="34" charset="0"/>
                <a:cs typeface="Arial" panose="020B0604020202090204" pitchFamily="34" charset="0"/>
              </a:rPr>
              <a:t>Data 2000-2025</a:t>
            </a:r>
            <a:endParaRPr kumimoji="1" lang="zh-CN" altLang="en-US" sz="54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Jun</a:t>
            </a:r>
            <a:r>
              <a:rPr kumimoji="1" lang="zh-CN" altLang="en-US" sz="28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Sun, Ruoyao Yan, Wenhan Zhan, </a:t>
            </a:r>
            <a:r>
              <a:rPr kumimoji="1" lang="en-US" altLang="zh-CN" sz="2800" dirty="0" err="1">
                <a:latin typeface="Arial" panose="020B0604020202090204" pitchFamily="34" charset="0"/>
                <a:cs typeface="Arial" panose="020B0604020202090204" pitchFamily="34" charset="0"/>
              </a:rPr>
              <a:t>Junxiang</a:t>
            </a:r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 Wang</a:t>
            </a:r>
            <a:endParaRPr kumimoji="1" lang="zh-CN" altLang="en-US" sz="28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5" name="Graphic 4" descr="Football ball with solid fi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0" y="52578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1B0D7C-B11A-E5DC-3420-AF90002CF906}"/>
              </a:ext>
            </a:extLst>
          </p:cNvPr>
          <p:cNvSpPr txBox="1"/>
          <p:nvPr/>
        </p:nvSpPr>
        <p:spPr>
          <a:xfrm>
            <a:off x="-2727434" y="4256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Introduction to the Dataset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kumimoji="1" lang="zh-CN" alt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690654" cy="4530725"/>
          </a:xfrm>
        </p:spPr>
        <p:txBody>
          <a:bodyPr>
            <a:normAutofit/>
          </a:bodyPr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Source:</a:t>
            </a:r>
            <a:r>
              <a:rPr lang="en-GB" altLang="zh-CN" dirty="0">
                <a:latin typeface="Arial" panose="020B0604020202090204" pitchFamily="34" charset="0"/>
                <a:cs typeface="Arial" panose="020B0604020202090204" pitchFamily="34" charset="0"/>
              </a:rPr>
              <a:t> Kaggle EPL dataset (2000–2025)</a:t>
            </a:r>
          </a:p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Total matches: </a:t>
            </a:r>
            <a:r>
              <a:rPr lang="en-GB" altLang="zh-CN" dirty="0">
                <a:latin typeface="Arial" panose="020B0604020202090204" pitchFamily="34" charset="0"/>
                <a:cs typeface="Arial" panose="020B0604020202090204" pitchFamily="34" charset="0"/>
              </a:rPr>
              <a:t>over 8000 rows, over 20 columns</a:t>
            </a:r>
          </a:p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Key features:</a:t>
            </a:r>
          </a:p>
          <a:p>
            <a:pPr marL="457200" lvl="1" indent="0">
              <a:buNone/>
            </a:pPr>
            <a:r>
              <a:rPr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Match date</a:t>
            </a:r>
          </a:p>
          <a:p>
            <a:pPr marL="457200" lvl="1" indent="0">
              <a:buNone/>
            </a:pPr>
            <a:r>
              <a:rPr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Home</a:t>
            </a:r>
            <a:r>
              <a:rPr lang="zh-CN" altLang="en-US" sz="27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and</a:t>
            </a:r>
            <a:r>
              <a:rPr lang="zh-CN" altLang="en-US" sz="27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Away teams</a:t>
            </a:r>
          </a:p>
          <a:p>
            <a:pPr marL="457200" lvl="1" indent="0">
              <a:buNone/>
            </a:pPr>
            <a:r>
              <a:rPr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Goals (half-time and full-time)</a:t>
            </a:r>
          </a:p>
          <a:p>
            <a:pPr marL="457200" lvl="1" indent="0">
              <a:buNone/>
            </a:pPr>
            <a:r>
              <a:rPr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Home/Away shots, fouls, corners, cards</a:t>
            </a:r>
          </a:p>
          <a:p>
            <a:pPr marL="457200" lvl="1" indent="0">
              <a:buNone/>
            </a:pPr>
            <a:r>
              <a:rPr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Match outcome (H/D/A)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🇬🇧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kumimoji="1"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Research Questions</a:t>
            </a:r>
            <a:endParaRPr kumimoji="1" lang="zh-CN" alt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0982093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Explore key factors that influence match outcomes in the English Premier League using historical data from 2000 to 2025.</a:t>
            </a:r>
          </a:p>
          <a:p>
            <a:r>
              <a:rPr kumimoji="1" lang="en-GB" altLang="zh-CN" sz="2200" b="1" dirty="0">
                <a:latin typeface="Arial" panose="020B0604020202090204" pitchFamily="34" charset="0"/>
                <a:cs typeface="Arial" panose="020B0604020202090204" pitchFamily="34" charset="0"/>
              </a:rPr>
              <a:t>Research Question 1: </a:t>
            </a:r>
          </a:p>
          <a:p>
            <a:pPr marL="0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To what extent does match location (Home vs. Away) influence the probability of winning in the English Premier League?</a:t>
            </a:r>
          </a:p>
          <a:p>
            <a:r>
              <a:rPr kumimoji="1" lang="en-GB" altLang="zh-CN" sz="2200" b="1" dirty="0">
                <a:latin typeface="Arial" panose="020B0604020202090204" pitchFamily="34" charset="0"/>
                <a:cs typeface="Arial" panose="020B0604020202090204" pitchFamily="34" charset="0"/>
              </a:rPr>
              <a:t>Research Question 2: </a:t>
            </a:r>
          </a:p>
          <a:p>
            <a:pPr marL="0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What are the factors that can affect the outcome of a competition?</a:t>
            </a:r>
          </a:p>
          <a:p>
            <a:pPr marL="0" indent="0">
              <a:buNone/>
            </a:pPr>
            <a:r>
              <a:rPr kumimoji="1" lang="en-GB" altLang="zh-CN" sz="2200" b="1" dirty="0">
                <a:latin typeface="Arial" panose="020B0604020202090204" pitchFamily="34" charset="0"/>
                <a:cs typeface="Arial" panose="020B0604020202090204" pitchFamily="34" charset="0"/>
              </a:rPr>
              <a:t>Research Question 3: </a:t>
            </a:r>
          </a:p>
          <a:p>
            <a:pPr marL="0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What is the impact of disciplinary metrics : fouls committed, yellow cards, and red cards on the</a:t>
            </a:r>
            <a:r>
              <a:rPr kumimoji="1"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total</a:t>
            </a:r>
            <a:r>
              <a:rPr kumimoji="1"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goal</a:t>
            </a:r>
            <a:r>
              <a:rPr kumimoji="1"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in</a:t>
            </a:r>
            <a:r>
              <a:rPr kumimoji="1"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each</a:t>
            </a:r>
            <a:r>
              <a:rPr kumimoji="1"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match</a:t>
            </a: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?</a:t>
            </a:r>
          </a:p>
          <a:p>
            <a:pPr marL="0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Data Cleaning Process</a:t>
            </a:r>
            <a:endParaRPr kumimoji="1" lang="zh-CN" alt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Checked and filled missing values (mean/mode).</a:t>
            </a:r>
          </a:p>
          <a:p>
            <a:pPr>
              <a:lnSpc>
                <a:spcPct val="150000"/>
              </a:lnSpc>
            </a:pP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Handled invalid/missing match dates</a:t>
            </a:r>
          </a:p>
          <a:p>
            <a:pPr>
              <a:lnSpc>
                <a:spcPct val="150000"/>
              </a:lnSpc>
            </a:pP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Fixed logical inconsistencies:</a:t>
            </a:r>
          </a:p>
          <a:p>
            <a:pPr>
              <a:lnSpc>
                <a:spcPct val="150000"/>
              </a:lnSpc>
            </a:pP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Negative or illogical goals (e.g. halftime &gt; fulltime)</a:t>
            </a:r>
          </a:p>
          <a:p>
            <a:pPr>
              <a:lnSpc>
                <a:spcPct val="150000"/>
              </a:lnSpc>
            </a:pP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Match outcomes inconsistent with goals</a:t>
            </a:r>
          </a:p>
          <a:p>
            <a:pPr>
              <a:lnSpc>
                <a:spcPct val="150000"/>
              </a:lnSpc>
            </a:pP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Removed temporary columns and exported cleaned dataset.</a:t>
            </a:r>
            <a:endParaRPr kumimoji="1"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/>
              <a:t>🧹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Why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are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we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doing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it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9873"/>
            <a:ext cx="10515600" cy="4351338"/>
          </a:xfrm>
        </p:spPr>
        <p:txBody>
          <a:bodyPr/>
          <a:lstStyle/>
          <a:p>
            <a:r>
              <a:rPr kumimoji="1" lang="en-GB" altLang="zh-CN" dirty="0">
                <a:latin typeface="Arial" panose="020B0604020202090204" pitchFamily="34" charset="0"/>
                <a:cs typeface="Arial" panose="020B0604020202090204" pitchFamily="34" charset="0"/>
              </a:rPr>
              <a:t>Check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GB" altLang="zh-CN" dirty="0">
                <a:latin typeface="Arial" panose="020B0604020202090204" pitchFamily="34" charset="0"/>
                <a:cs typeface="Arial" panose="020B0604020202090204" pitchFamily="34" charset="0"/>
              </a:rPr>
              <a:t>missing values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.</a:t>
            </a:r>
            <a:endParaRPr kumimoji="1" lang="en-GB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Picture 6" descr="A white sheet with black text&#10;&#10;AI-generated content may be incorrect."/>
          <p:cNvPicPr>
            <a:picLocks noChangeAspect="1"/>
          </p:cNvPicPr>
          <p:nvPr/>
        </p:nvPicPr>
        <p:blipFill>
          <a:blip r:embed="rId3"/>
          <a:srcRect l="12995" r="19"/>
          <a:stretch>
            <a:fillRect/>
          </a:stretch>
        </p:blipFill>
        <p:spPr>
          <a:xfrm>
            <a:off x="1027386" y="2120485"/>
            <a:ext cx="10258076" cy="1676672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8" name="Oval 7"/>
          <p:cNvSpPr/>
          <p:nvPr/>
        </p:nvSpPr>
        <p:spPr>
          <a:xfrm>
            <a:off x="9651124" y="2419796"/>
            <a:ext cx="1513490" cy="694982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65834" y="3010752"/>
            <a:ext cx="1513490" cy="694982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screen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476" y="4125880"/>
            <a:ext cx="2951922" cy="2135944"/>
          </a:xfrm>
          <a:prstGeom prst="rect">
            <a:avLst/>
          </a:prstGeom>
        </p:spPr>
      </p:pic>
      <p:pic>
        <p:nvPicPr>
          <p:cNvPr id="14" name="Picture 13" descr="A screen shot of a computer code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386" y="4006697"/>
            <a:ext cx="5294586" cy="2374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4" y="372698"/>
            <a:ext cx="10175631" cy="1111843"/>
          </a:xfrm>
        </p:spPr>
        <p:txBody>
          <a:bodyPr anchor="ctr">
            <a:normAutofit/>
          </a:bodyPr>
          <a:lstStyle/>
          <a:p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How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did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we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do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it: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136" y="1484541"/>
            <a:ext cx="10175630" cy="934636"/>
          </a:xfrm>
        </p:spPr>
        <p:txBody>
          <a:bodyPr anchor="ctr">
            <a:normAutofit lnSpcReduction="10000"/>
          </a:bodyPr>
          <a:lstStyle/>
          <a:p>
            <a:pPr algn="ctr"/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Numerical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data</a:t>
            </a:r>
            <a:endParaRPr kumimoji="1" lang="en-GB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Categorical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data</a:t>
            </a:r>
            <a:endParaRPr kumimoji="1" lang="en-GB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endParaRPr lang="en-US" sz="2000" dirty="0"/>
          </a:p>
        </p:txBody>
      </p:sp>
      <p:pic>
        <p:nvPicPr>
          <p:cNvPr id="6" name="Picture 5" descr="A screen shot of a computer program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08" y="2324637"/>
            <a:ext cx="9748486" cy="38993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Pros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and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Cons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Means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method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kumimoji="1" lang="en-GB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kumimoji="1" lang="en-US" sz="2400" dirty="0">
                <a:latin typeface="Arial" panose="020B0604020202090204" pitchFamily="34" charset="0"/>
                <a:cs typeface="Arial" panose="020B0604020202090204" pitchFamily="34" charset="0"/>
              </a:rPr>
              <a:t>	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Minimizes Variance</a:t>
            </a:r>
          </a:p>
          <a:p>
            <a:pPr marL="0" indent="0">
              <a:buNone/>
            </a:pP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	Preserves Central Tendency</a:t>
            </a:r>
            <a:endParaRPr kumimoji="1" lang="en-GB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Mode</a:t>
            </a:r>
          </a:p>
          <a:p>
            <a:pPr marL="0" indent="0">
              <a:buNone/>
            </a:pP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	Works for Categorical Data</a:t>
            </a:r>
            <a:endParaRPr kumimoji="1" 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buNone/>
            </a:pP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	Not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being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too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ridiculous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endParaRPr kumimoji="1" lang="en-GB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Other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decided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not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using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ways</a:t>
            </a:r>
          </a:p>
          <a:p>
            <a:pPr marL="0" indent="0">
              <a:buNone/>
            </a:pP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	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Too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hard…😭</a:t>
            </a:r>
          </a:p>
          <a:p>
            <a:endParaRPr lang="en-GB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/>
              <a:t>🧹</a:t>
            </a:r>
            <a:endParaRPr lang="en-US" sz="5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Arial" panose="020B0604020202090204" pitchFamily="34" charset="0"/>
                <a:cs typeface="Arial" panose="020B0604020202090204" pitchFamily="34" charset="0"/>
              </a:rPr>
              <a:t>Check</a:t>
            </a:r>
            <a:r>
              <a:rPr lang="zh-CN" altLang="en-US" sz="4000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4000" b="1" dirty="0">
                <a:latin typeface="Arial" panose="020B0604020202090204" pitchFamily="34" charset="0"/>
                <a:cs typeface="Arial" panose="020B0604020202090204" pitchFamily="34" charset="0"/>
              </a:rPr>
              <a:t>list</a:t>
            </a:r>
            <a:endParaRPr lang="en-US" sz="4000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4941"/>
          </a:xfrm>
        </p:spPr>
        <p:txBody>
          <a:bodyPr/>
          <a:lstStyle/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no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floating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numbers</a:t>
            </a: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no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negative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numbers</a:t>
            </a: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no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error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match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result</a:t>
            </a: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no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half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time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goal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over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full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time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911560"/>
            <a:ext cx="9567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90204" pitchFamily="34" charset="0"/>
                <a:ea typeface="+mj-ea"/>
                <a:cs typeface="Arial" panose="020B0604020202090204" pitchFamily="34" charset="0"/>
              </a:rPr>
              <a:t>Result</a:t>
            </a:r>
            <a:endParaRPr lang="en-US" sz="4000" b="1" dirty="0">
              <a:latin typeface="Arial" panose="020B0604020202090204" pitchFamily="34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7" name="Picture 6" descr="A table with numbers and letter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272" y="4641464"/>
            <a:ext cx="8463455" cy="157503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Summary Statistics</a:t>
            </a:r>
            <a:endParaRPr kumimoji="1"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Total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9380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games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with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in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25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years</a:t>
            </a: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Total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team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participated: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46</a:t>
            </a:r>
            <a:endParaRPr lang="en-GB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Total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home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win:4291</a:t>
            </a:r>
          </a:p>
          <a:p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Total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away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win:</a:t>
            </a:r>
            <a:r>
              <a:rPr kumimoji="1"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2726</a:t>
            </a: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total yellow cards: 30584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total red cards: 1337</a:t>
            </a:r>
          </a:p>
          <a:p>
            <a:endParaRPr lang="en-US" dirty="0"/>
          </a:p>
          <a:p>
            <a:endParaRPr kumimoji="1" lang="en-GB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/>
              <a:t>🧹</a:t>
            </a:r>
            <a:endParaRPr lang="en-US" sz="5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7" y="4451009"/>
            <a:ext cx="5171299" cy="1659925"/>
          </a:xfrm>
        </p:spPr>
        <p:txBody>
          <a:bodyPr>
            <a:normAutofit/>
          </a:bodyPr>
          <a:lstStyle/>
          <a:p>
            <a:r>
              <a:rPr lang="en-US" altLang="zh-CN" sz="4000" b="1">
                <a:latin typeface="Arial" panose="020B0604020202090204" pitchFamily="34" charset="0"/>
                <a:cs typeface="Arial" panose="020B0604020202090204" pitchFamily="34" charset="0"/>
              </a:rPr>
              <a:t>Final</a:t>
            </a:r>
            <a:r>
              <a:rPr lang="zh-CN" altLang="en-US" sz="4000" b="1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4000" b="1">
                <a:latin typeface="Arial" panose="020B0604020202090204" pitchFamily="34" charset="0"/>
                <a:cs typeface="Arial" panose="020B0604020202090204" pitchFamily="34" charset="0"/>
              </a:rPr>
              <a:t>programme</a:t>
            </a:r>
            <a:r>
              <a:rPr lang="zh-CN" altLang="en-US" sz="4000" b="1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4000" b="1">
                <a:latin typeface="Arial" panose="020B0604020202090204" pitchFamily="34" charset="0"/>
                <a:cs typeface="Arial" panose="020B0604020202090204" pitchFamily="34" charset="0"/>
              </a:rPr>
              <a:t>display</a:t>
            </a:r>
            <a:endParaRPr lang="en-US" sz="4000" b="1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9" name="Picture 8" descr="A screen shot of a computer program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36" y="1370781"/>
            <a:ext cx="5601135" cy="2072418"/>
          </a:xfrm>
          <a:prstGeom prst="rect">
            <a:avLst/>
          </a:prstGeom>
        </p:spPr>
      </p:pic>
      <p:pic>
        <p:nvPicPr>
          <p:cNvPr id="13" name="Content Placeholder 12" descr="A screen shot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296" y="1702258"/>
            <a:ext cx="6062212" cy="14094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/>
              <a:t>🧹</a:t>
            </a:r>
            <a:endParaRPr lang="en-US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Exploratory Data Analysis </a:t>
            </a:r>
            <a:endParaRPr kumimoji="1"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GB" altLang="zh-CN" sz="2700" b="1" dirty="0">
                <a:latin typeface="Arial" panose="020B0604020202090204" pitchFamily="34" charset="0"/>
                <a:cs typeface="Arial" panose="020B0604020202090204" pitchFamily="34" charset="0"/>
              </a:rPr>
              <a:t>Trend over seasons:</a:t>
            </a:r>
          </a:p>
          <a:p>
            <a:pPr marL="0" indent="0">
              <a:buNone/>
            </a:pPr>
            <a:r>
              <a:rPr kumimoji="1"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  Number of matches per season</a:t>
            </a:r>
          </a:p>
          <a:p>
            <a:pPr marL="0" indent="0">
              <a:buNone/>
            </a:pPr>
            <a:r>
              <a:rPr kumimoji="1"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  Goal trends over time</a:t>
            </a:r>
          </a:p>
          <a:p>
            <a:r>
              <a:rPr kumimoji="1" lang="en-GB" altLang="zh-CN" sz="2700" b="1" dirty="0">
                <a:latin typeface="Arial" panose="020B0604020202090204" pitchFamily="34" charset="0"/>
                <a:cs typeface="Arial" panose="020B0604020202090204" pitchFamily="34" charset="0"/>
              </a:rPr>
              <a:t>Team performance:</a:t>
            </a:r>
          </a:p>
          <a:p>
            <a:pPr marL="0" indent="0">
              <a:buNone/>
            </a:pPr>
            <a:r>
              <a:rPr kumimoji="1"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  Most successful home teams</a:t>
            </a:r>
          </a:p>
          <a:p>
            <a:pPr marL="0" indent="0">
              <a:buNone/>
            </a:pPr>
            <a:r>
              <a:rPr kumimoji="1"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  Most aggressive teams (cards/fouls)</a:t>
            </a:r>
          </a:p>
          <a:p>
            <a:r>
              <a:rPr kumimoji="1" lang="en-GB" altLang="zh-CN" sz="2700" b="1" dirty="0">
                <a:latin typeface="Arial" panose="020B0604020202090204" pitchFamily="34" charset="0"/>
                <a:cs typeface="Arial" panose="020B0604020202090204" pitchFamily="34" charset="0"/>
              </a:rPr>
              <a:t>Visualizations:</a:t>
            </a:r>
          </a:p>
          <a:p>
            <a:r>
              <a:rPr kumimoji="1" lang="en-GB" altLang="zh-CN" sz="2700" dirty="0">
                <a:latin typeface="Arial" panose="020B0604020202090204" pitchFamily="34" charset="0"/>
                <a:cs typeface="Arial" panose="020B0604020202090204" pitchFamily="34" charset="0"/>
              </a:rPr>
              <a:t>Bar charts, line plots, heatmaps (e.g., team vs. goals)</a:t>
            </a:r>
          </a:p>
          <a:p>
            <a:endParaRPr kumimoji="1"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Primary</a:t>
            </a:r>
            <a:r>
              <a:rPr lang="zh-CN" altLang="en-US" dirty="0"/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data</a:t>
            </a:r>
            <a:r>
              <a:rPr lang="zh-CN" altLang="en-US" dirty="0"/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research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Trends in number of matches played </a:t>
            </a:r>
          </a:p>
          <a:p>
            <a:r>
              <a:rPr lang="en-GB" altLang="zh-CN" dirty="0">
                <a:highlight>
                  <a:srgbClr val="FFFF00"/>
                </a:highlight>
                <a:latin typeface="Arial" panose="020B0604020202090204" pitchFamily="34" charset="0"/>
                <a:cs typeface="Arial" panose="020B0604020202090204" pitchFamily="34" charset="0"/>
              </a:rPr>
              <a:t>Distribution of home and away team goals (bar chart)</a:t>
            </a:r>
          </a:p>
          <a:p>
            <a:r>
              <a:rPr lang="en-GB" altLang="zh-CN" dirty="0">
                <a:latin typeface="Arial" panose="020B0604020202090204" pitchFamily="34" charset="0"/>
                <a:cs typeface="Arial" panose="020B0604020202090204" pitchFamily="34" charset="0"/>
              </a:rPr>
              <a:t>Full-time/half-time result ratio (pie chart) </a:t>
            </a:r>
          </a:p>
          <a:p>
            <a:r>
              <a:rPr lang="en-GB" altLang="zh-CN" dirty="0">
                <a:highlight>
                  <a:srgbClr val="FFFF00"/>
                </a:highlight>
                <a:latin typeface="Arial" panose="020B0604020202090204" pitchFamily="34" charset="0"/>
                <a:cs typeface="Arial" panose="020B0604020202090204" pitchFamily="34" charset="0"/>
              </a:rPr>
              <a:t>Home vs Away Win Percentage (bar graph)</a:t>
            </a:r>
            <a:b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b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</a:b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mobile phone&#10;&#10;AI-generated content may be incorrect.">
            <a:extLst>
              <a:ext uri="{FF2B5EF4-FFF2-40B4-BE49-F238E27FC236}">
                <a16:creationId xmlns:a16="http://schemas.microsoft.com/office/drawing/2014/main" id="{08E69600-7163-E07A-2F01-B66FB21AE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97398" y="365125"/>
            <a:ext cx="2588416" cy="4351338"/>
          </a:xfrm>
        </p:spPr>
      </p:pic>
      <p:pic>
        <p:nvPicPr>
          <p:cNvPr id="8" name="Content Placeholder 4" descr="A graph with numbers and lines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49" y="365125"/>
            <a:ext cx="6904495" cy="3429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2524DA-5B1A-9044-4039-100C8681CADD}"/>
              </a:ext>
            </a:extLst>
          </p:cNvPr>
          <p:cNvSpPr txBox="1"/>
          <p:nvPr/>
        </p:nvSpPr>
        <p:spPr>
          <a:xfrm>
            <a:off x="2433035" y="4531797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335</a:t>
            </a:r>
            <a:r>
              <a:rPr lang="zh-CN" altLang="en-US" dirty="0"/>
              <a:t> </a:t>
            </a:r>
            <a:r>
              <a:rPr lang="en-US" altLang="zh-CN" dirty="0"/>
              <a:t>matches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B1BFE-0994-2885-755A-284FAB6A58D7}"/>
              </a:ext>
            </a:extLst>
          </p:cNvPr>
          <p:cNvSpPr txBox="1"/>
          <p:nvPr/>
        </p:nvSpPr>
        <p:spPr>
          <a:xfrm>
            <a:off x="1828601" y="3937717"/>
            <a:ext cx="2324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↖️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Distribution of home and away team goals (bar chart)</a:t>
            </a:r>
            <a:endParaRPr lang="en-US" dirty="0"/>
          </a:p>
        </p:txBody>
      </p:sp>
      <p:pic>
        <p:nvPicPr>
          <p:cNvPr id="9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5F935A4-9CF8-48AA-9E1C-F28E08953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75412" y="1951749"/>
            <a:ext cx="5441175" cy="4351338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D0D3-A96F-902F-F47D-B023B319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Distribution of home and away team goals (bar chart)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5012F-F0A4-1F93-FABA-8DEC936E1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A5205C8-7BA6-F35B-8EE4-A7EC57890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48"/>
          <a:stretch>
            <a:fillRect/>
          </a:stretch>
        </p:blipFill>
        <p:spPr>
          <a:xfrm>
            <a:off x="1654418" y="1825625"/>
            <a:ext cx="8883163" cy="448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9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628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90204" pitchFamily="34" charset="0"/>
                <a:cs typeface="Arial" panose="020B0604020202090204" pitchFamily="34" charset="0"/>
              </a:rPr>
              <a:t>Distribution of home and away team goals (bar </a:t>
            </a:r>
            <a:r>
              <a:rPr lang="en-US" altLang="zh-CN" sz="3200" b="1" dirty="0">
                <a:latin typeface="Arial" panose="020B0604020202090204" pitchFamily="34" charset="0"/>
                <a:cs typeface="Arial" panose="020B0604020202090204" pitchFamily="34" charset="0"/>
              </a:rPr>
              <a:t>plot</a:t>
            </a:r>
            <a:r>
              <a:rPr lang="en-US" sz="3200" b="1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</a:p>
        </p:txBody>
      </p:sp>
      <p:pic>
        <p:nvPicPr>
          <p:cNvPr id="5" name="Content Placeholder 4" descr="A screenshot of a graph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35264" y="4347553"/>
            <a:ext cx="7121471" cy="25104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4381A-5537-9E25-7267-E6F83ED03F40}"/>
              </a:ext>
            </a:extLst>
          </p:cNvPr>
          <p:cNvSpPr txBox="1"/>
          <p:nvPr/>
        </p:nvSpPr>
        <p:spPr>
          <a:xfrm>
            <a:off x="838200" y="1197020"/>
            <a:ext cx="1012039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Home</a:t>
            </a:r>
            <a:r>
              <a:rPr kumimoji="1" lang="zh-CN" altLang="en-US" sz="28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team:</a:t>
            </a:r>
            <a:endParaRPr kumimoji="1" lang="en-GB" altLang="zh-CN" sz="28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Peak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at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to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3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goals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，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especially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goal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and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goals</a:t>
            </a:r>
            <a:endParaRPr kumimoji="1" lang="en-GB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High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scoring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like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5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goals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above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significantly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decreasing,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but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still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some</a:t>
            </a:r>
            <a:endParaRPr kumimoji="1"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Away</a:t>
            </a:r>
            <a:r>
              <a:rPr kumimoji="1" lang="zh-CN" altLang="en-US" sz="28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800" dirty="0">
                <a:latin typeface="Arial" panose="020B0604020202090204" pitchFamily="34" charset="0"/>
                <a:cs typeface="Arial" panose="020B0604020202090204" pitchFamily="34" charset="0"/>
              </a:rPr>
              <a:t>team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Peak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at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to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goals 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，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0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score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way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more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than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home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team,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shows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more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disadvantages</a:t>
            </a:r>
            <a:endParaRPr kumimoji="1" lang="en-GB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High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score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like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5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goals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above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is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very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rare,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nearly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zero</a:t>
            </a:r>
            <a:endParaRPr kumimoji="1"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br>
              <a:rPr lang="zh-CN" alt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CF13C-4CF2-F21A-7EF4-2B452DB36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Home vs Away Win Percentage (bar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plot</a:t>
            </a:r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endParaRPr lang="en-US" b="1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6B1C10D-6B5D-76A0-69A1-C7E129C72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0144"/>
          <a:stretch>
            <a:fillRect/>
          </a:stretch>
        </p:blipFill>
        <p:spPr>
          <a:xfrm>
            <a:off x="405755" y="2039501"/>
            <a:ext cx="4150747" cy="2991178"/>
          </a:xfrm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2AB28EE-649B-03E8-ED51-927AC361C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647" y="2039501"/>
            <a:ext cx="7256127" cy="331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86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zh-CN" sz="3200" b="1" dirty="0">
                <a:latin typeface="Arial" panose="020B0604020202090204" pitchFamily="34" charset="0"/>
                <a:cs typeface="Arial" panose="020B0604020202090204" pitchFamily="34" charset="0"/>
              </a:rPr>
              <a:t>Home vs Away Win Percentage (bar </a:t>
            </a:r>
            <a:r>
              <a:rPr lang="en-US" altLang="zh-CN" sz="3200" b="1" dirty="0">
                <a:latin typeface="Arial" panose="020B0604020202090204" pitchFamily="34" charset="0"/>
                <a:cs typeface="Arial" panose="020B0604020202090204" pitchFamily="34" charset="0"/>
              </a:rPr>
              <a:t>plot</a:t>
            </a:r>
            <a:r>
              <a:rPr lang="en-GB" altLang="zh-CN" sz="3200" b="1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endParaRPr lang="en-US" sz="3200" b="1" dirty="0"/>
          </a:p>
        </p:txBody>
      </p:sp>
      <p:pic>
        <p:nvPicPr>
          <p:cNvPr id="5" name="Content Placeholder 4" descr="A screenshot of a graph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58017" y="3016251"/>
            <a:ext cx="5605169" cy="347662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3976E1-2974-7B17-46CF-E712902FC5B5}"/>
              </a:ext>
            </a:extLst>
          </p:cNvPr>
          <p:cNvSpPr txBox="1"/>
          <p:nvPr/>
        </p:nvSpPr>
        <p:spPr>
          <a:xfrm>
            <a:off x="698408" y="1538923"/>
            <a:ext cx="9267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45.7% home win rate vs 29.1% away (16.6% gap)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25% matches end in draw - highlights game's unpredictability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77242-EF26-BBAD-A4C2-B5D8E69B10D3}"/>
              </a:ext>
            </a:extLst>
          </p:cNvPr>
          <p:cNvSpPr txBox="1"/>
          <p:nvPr/>
        </p:nvSpPr>
        <p:spPr>
          <a:xfrm>
            <a:off x="838200" y="3016251"/>
            <a:ext cx="52577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Reason</a:t>
            </a:r>
            <a:endParaRPr kumimoji="1" lang="en-GB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Environmental: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Familiarity with pitch conditions</a:t>
            </a:r>
          </a:p>
          <a:p>
            <a:b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Psychological: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Home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more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 support</a:t>
            </a:r>
            <a:r>
              <a:rPr kumimoji="1" lang="en-US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ers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 effect</a:t>
            </a:r>
          </a:p>
          <a:p>
            <a:endParaRPr kumimoji="1" lang="en-GB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Officiating: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Subconscious referee bias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,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tend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to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help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home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team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more</a:t>
            </a:r>
            <a:endParaRPr kumimoji="1" lang="en-GB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Assumption Testing &amp; Prediction</a:t>
            </a:r>
            <a:endParaRPr kumimoji="1"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5844"/>
            <a:ext cx="10515600" cy="4751119"/>
          </a:xfrm>
        </p:spPr>
        <p:txBody>
          <a:bodyPr>
            <a:normAutofit/>
          </a:bodyPr>
          <a:lstStyle/>
          <a:p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Predict the number of goals scored by Liverpool as the home team (</a:t>
            </a:r>
            <a:r>
              <a:rPr kumimoji="1" lang="en-GB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FullTimeHomeGoals</a:t>
            </a: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). Use regression to predict.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sports lotto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assess Liverpool's home attack efficiency</a:t>
            </a:r>
          </a:p>
          <a:p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Use </a:t>
            </a:r>
            <a:r>
              <a:rPr kumimoji="1" lang="en-GB" altLang="zh-CN" sz="2400" dirty="0" err="1">
                <a:latin typeface="Arial" panose="020B0604020202090204" pitchFamily="34" charset="0"/>
                <a:cs typeface="Arial" panose="020B0604020202090204" pitchFamily="34" charset="0"/>
              </a:rPr>
              <a:t>HomeShotsOnTarget</a:t>
            </a: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to build a goal expectation model to predict</a:t>
            </a:r>
            <a:r>
              <a:rPr kumimoji="1"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Liverpool's specific winning rate in home games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Prediction of goals per game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Visualized correlation curve between number of shots on target and winning rate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Can</a:t>
            </a:r>
            <a:r>
              <a:rPr kumimoji="1"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kumimoji="1"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assist</a:t>
            </a: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 coaches to adjust offensive tactics</a:t>
            </a:r>
          </a:p>
          <a:p>
            <a:r>
              <a:rPr kumimoji="1" lang="en-GB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Predicting goals using cards and corner kicks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Positive correlation between corner kicks and goals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Chain effect of red and yellow cards</a:t>
            </a:r>
          </a:p>
          <a:p>
            <a:pPr marL="457200" lvl="1" indent="0">
              <a:buNone/>
            </a:pPr>
            <a:r>
              <a:rPr kumimoji="1" lang="en-GB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Dynamic adjustment of tactics</a:t>
            </a:r>
            <a:endParaRPr kumimoji="1" lang="zh-CN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/>
              <a:t>📈</a:t>
            </a:r>
            <a:endParaRPr lang="en-US" sz="5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04B0-3889-9F7A-B76F-C5E05254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F0B8-4B41-85EE-8C9B-012582B41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423" y="3138864"/>
            <a:ext cx="11747715" cy="2913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Let’s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see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some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stats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teams!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F106F-D4FC-A06D-412A-F8EF52D7B885}"/>
              </a:ext>
            </a:extLst>
          </p:cNvPr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🇬🇧</a:t>
            </a:r>
          </a:p>
        </p:txBody>
      </p:sp>
    </p:spTree>
    <p:extLst>
      <p:ext uri="{BB962C8B-B14F-4D97-AF65-F5344CB8AC3E}">
        <p14:creationId xmlns:p14="http://schemas.microsoft.com/office/powerpoint/2010/main" val="2541819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Liverpool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Man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City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755E08-089C-EB18-260D-02B74AA49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B7C1BC-EB5A-8593-D16C-FAD233934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53" y="2081047"/>
            <a:ext cx="7251066" cy="3552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0DAEFE-BCE9-EC96-3DF1-15EE5C6A3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154" y="2081047"/>
            <a:ext cx="3953398" cy="355259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Feat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ures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analysis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for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machine</a:t>
            </a: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learning</a:t>
            </a:r>
            <a:endParaRPr lang="en-US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799"/>
            <a:ext cx="10515600" cy="4348163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Average shots per match, shots on target, and goal conversion rate</a:t>
            </a:r>
          </a:p>
          <a:p>
            <a:r>
              <a:rPr lang="en-GB" dirty="0">
                <a:highlight>
                  <a:srgbClr val="FFFF00"/>
                </a:highlight>
                <a:latin typeface="Arial" panose="020B0604020202090204" pitchFamily="34" charset="0"/>
                <a:cs typeface="Arial" panose="020B0604020202090204" pitchFamily="34" charset="0"/>
              </a:rPr>
              <a:t>Average distribution of fouls, yellow cards, and red cards (Home vs Away)</a:t>
            </a:r>
          </a:p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Correlation between corner kicks and win rate</a:t>
            </a:r>
          </a:p>
          <a:p>
            <a:r>
              <a:rPr lang="en-GB" dirty="0">
                <a:highlight>
                  <a:srgbClr val="FFFF00"/>
                </a:highlight>
                <a:latin typeface="Arial" panose="020B0604020202090204" pitchFamily="34" charset="0"/>
                <a:cs typeface="Arial" panose="020B0604020202090204" pitchFamily="34" charset="0"/>
              </a:rPr>
              <a:t>Analysis of the relationship between goal difference and match outcome</a:t>
            </a:r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B1702-C0AE-2B7D-0670-0D71709E564A}"/>
              </a:ext>
            </a:extLst>
          </p:cNvPr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096A-6736-A7EC-51A2-8FA147ED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Average distribution of fouls, yellow cards, and red cards (Home vs Away)</a:t>
            </a:r>
            <a:endParaRPr lang="en-US" b="1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CC115E1-BD82-1681-39E4-B53960DA0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1846" y="1690688"/>
            <a:ext cx="7515558" cy="5017773"/>
          </a:xfrm>
        </p:spPr>
      </p:pic>
    </p:spTree>
    <p:extLst>
      <p:ext uri="{BB962C8B-B14F-4D97-AF65-F5344CB8AC3E}">
        <p14:creationId xmlns:p14="http://schemas.microsoft.com/office/powerpoint/2010/main" val="1996831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408A5-4C2B-2B5A-ED26-81AF7981D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Average distribution of fouls, yellow cards, and red cards (Home vs Away)</a:t>
            </a:r>
            <a:endParaRPr lang="en-US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64E33661-A1BD-4412-6510-A0075B315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35869" y="3258984"/>
            <a:ext cx="4192660" cy="249522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9F2E5F-FBC9-A7AD-E36E-EE6BBB5AF1B2}"/>
              </a:ext>
            </a:extLst>
          </p:cNvPr>
          <p:cNvSpPr txBox="1"/>
          <p:nvPr/>
        </p:nvSpPr>
        <p:spPr>
          <a:xfrm>
            <a:off x="263471" y="1645566"/>
            <a:ext cx="9549987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Fouls</a:t>
            </a: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: </a:t>
            </a: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11.77 for away teams vs 11.28 for home teams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.</a:t>
            </a:r>
            <a:endParaRPr kumimoji="1" lang="en-GB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Yellow cards: 1.79 for away teams compared to 1.47 for home teams</a:t>
            </a: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Red cards: 0.09 for away teams versus 0.06 for home teams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FB844-0FE9-21E7-EC98-E039BA9A4B35}"/>
              </a:ext>
            </a:extLst>
          </p:cNvPr>
          <p:cNvSpPr txBox="1"/>
          <p:nvPr/>
        </p:nvSpPr>
        <p:spPr>
          <a:xfrm>
            <a:off x="263470" y="3076555"/>
            <a:ext cx="77491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Difference - 0.49 more fouls per game by away teams</a:t>
            </a:r>
            <a:r>
              <a:rPr kumimoji="1"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.</a:t>
            </a:r>
            <a:endParaRPr kumimoji="1" lang="en-GB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kumimoji="1" lang="en-GB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This could stem from:</a:t>
            </a: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Defensive postures typically adopted by visiting sides</a:t>
            </a:r>
          </a:p>
          <a:p>
            <a:endParaRPr kumimoji="1" lang="en-GB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kumimoji="1" lang="en-GB" sz="2400" dirty="0">
                <a:latin typeface="Arial" panose="020B0604020202090204" pitchFamily="34" charset="0"/>
                <a:cs typeface="Arial" panose="020B0604020202090204" pitchFamily="34" charset="0"/>
              </a:rPr>
              <a:t>Increased physical demands of away matches</a:t>
            </a:r>
          </a:p>
        </p:txBody>
      </p:sp>
    </p:spTree>
    <p:extLst>
      <p:ext uri="{BB962C8B-B14F-4D97-AF65-F5344CB8AC3E}">
        <p14:creationId xmlns:p14="http://schemas.microsoft.com/office/powerpoint/2010/main" val="3183028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A3D9-55BF-8B97-CC22-4F4E7885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900" b="1" dirty="0">
                <a:latin typeface="Arial" panose="020B0604020202090204" pitchFamily="34" charset="0"/>
                <a:cs typeface="Arial" panose="020B0604020202090204" pitchFamily="34" charset="0"/>
              </a:rPr>
              <a:t>Analysis of the relationship between goal difference and match outcome</a:t>
            </a:r>
            <a:endParaRPr lang="en-US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57E3994-4D76-FF29-45BA-9EBAC89430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00016" y="2005011"/>
            <a:ext cx="6991968" cy="4351338"/>
          </a:xfrm>
        </p:spPr>
      </p:pic>
    </p:spTree>
    <p:extLst>
      <p:ext uri="{BB962C8B-B14F-4D97-AF65-F5344CB8AC3E}">
        <p14:creationId xmlns:p14="http://schemas.microsoft.com/office/powerpoint/2010/main" val="125869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BC5-FD30-66D7-9BD7-3FDA521B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Analysis of the relationship between goal difference and match outcome</a:t>
            </a:r>
            <a:endParaRPr lang="en-US" dirty="0"/>
          </a:p>
        </p:txBody>
      </p:sp>
      <p:pic>
        <p:nvPicPr>
          <p:cNvPr id="5" name="Content Placeholder 4" descr="A graph on a screen&#10;&#10;AI-generated content may be incorrect.">
            <a:extLst>
              <a:ext uri="{FF2B5EF4-FFF2-40B4-BE49-F238E27FC236}">
                <a16:creationId xmlns:a16="http://schemas.microsoft.com/office/drawing/2014/main" id="{B81288C8-D7D6-B33F-30F4-8C34BAF48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9100" y="2128044"/>
            <a:ext cx="6273800" cy="3746500"/>
          </a:xfrm>
        </p:spPr>
      </p:pic>
    </p:spTree>
    <p:extLst>
      <p:ext uri="{BB962C8B-B14F-4D97-AF65-F5344CB8AC3E}">
        <p14:creationId xmlns:p14="http://schemas.microsoft.com/office/powerpoint/2010/main" val="2178602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EB95-8AC4-FEAE-AF60-E379CDCF5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827" y="2766218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Prediction!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F896F-14E2-CF55-D763-EE864C898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7D2F4-C287-089B-7DB4-665C484C0577}"/>
              </a:ext>
            </a:extLst>
          </p:cNvPr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📚</a:t>
            </a:r>
          </a:p>
        </p:txBody>
      </p:sp>
    </p:spTree>
    <p:extLst>
      <p:ext uri="{BB962C8B-B14F-4D97-AF65-F5344CB8AC3E}">
        <p14:creationId xmlns:p14="http://schemas.microsoft.com/office/powerpoint/2010/main" val="1157393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96B8-EB03-8A18-F745-D5055004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Predicting goals using cards and corner kicks</a:t>
            </a:r>
            <a:endParaRPr lang="en-US" b="1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FF11F55-652C-BE26-7165-987094ADA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89841" y="3907530"/>
            <a:ext cx="8890000" cy="2463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DCBF44-6E83-04D9-44BD-505AAFC55313}"/>
              </a:ext>
            </a:extLst>
          </p:cNvPr>
          <p:cNvSpPr txBox="1"/>
          <p:nvPr/>
        </p:nvSpPr>
        <p:spPr>
          <a:xfrm>
            <a:off x="1182413" y="1690688"/>
            <a:ext cx="8355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choose cards and corners because they: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Directly influence goal-scoring odds.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Are easy to measure objectively.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Have established statistical relationships with goals.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2714C-2F0A-14C6-767D-B19CC8514242}"/>
              </a:ext>
            </a:extLst>
          </p:cNvPr>
          <p:cNvSpPr txBox="1"/>
          <p:nvPr/>
        </p:nvSpPr>
        <p:spPr>
          <a:xfrm>
            <a:off x="1182413" y="2891654"/>
            <a:ext cx="57118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for:</a:t>
            </a:r>
            <a:endParaRPr lang="en-GB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Earn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money</a:t>
            </a:r>
            <a:endParaRPr lang="en-GB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evaluation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preparation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match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015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DEBD-1413-0AD6-ACC6-A974E7A4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Predicting goals using cards and corner kicks</a:t>
            </a:r>
            <a:endParaRPr lang="en-US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96A349E-44C4-2BEB-2168-B20264AF1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8190" y="2238704"/>
            <a:ext cx="8975619" cy="3371330"/>
          </a:xfrm>
        </p:spPr>
      </p:pic>
    </p:spTree>
    <p:extLst>
      <p:ext uri="{BB962C8B-B14F-4D97-AF65-F5344CB8AC3E}">
        <p14:creationId xmlns:p14="http://schemas.microsoft.com/office/powerpoint/2010/main" val="3021901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2C41-3D4F-F722-AF8A-08F36188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Predicting goals using cards and corner kicks</a:t>
            </a:r>
            <a:endParaRPr lang="en-US" dirty="0"/>
          </a:p>
        </p:txBody>
      </p:sp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0038C95-26CC-A802-3461-EABB98C48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5797" y="2128345"/>
            <a:ext cx="8260405" cy="3221558"/>
          </a:xfrm>
        </p:spPr>
      </p:pic>
    </p:spTree>
    <p:extLst>
      <p:ext uri="{BB962C8B-B14F-4D97-AF65-F5344CB8AC3E}">
        <p14:creationId xmlns:p14="http://schemas.microsoft.com/office/powerpoint/2010/main" val="4227207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CEAB-18C8-A68E-980D-F9CD3EC2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Predicting goals using cards and corner kicks</a:t>
            </a:r>
            <a:endParaRPr lang="en-US" dirty="0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613B889-5C2C-772C-9EBA-29D21DB1A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3623" y="1935983"/>
            <a:ext cx="7244753" cy="4351338"/>
          </a:xfrm>
        </p:spPr>
      </p:pic>
    </p:spTree>
    <p:extLst>
      <p:ext uri="{BB962C8B-B14F-4D97-AF65-F5344CB8AC3E}">
        <p14:creationId xmlns:p14="http://schemas.microsoft.com/office/powerpoint/2010/main" val="3055839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8D3C-6D5B-0991-B2ED-DA701D7B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Predicting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 shot of a graph&#10;&#10;AI-generated content may be incorrect.">
            <a:extLst>
              <a:ext uri="{FF2B5EF4-FFF2-40B4-BE49-F238E27FC236}">
                <a16:creationId xmlns:a16="http://schemas.microsoft.com/office/drawing/2014/main" id="{2953FE6D-B73A-072B-EDE2-53BD5B662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6354" y="3841168"/>
            <a:ext cx="9819291" cy="26909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FEBFD1-DCFA-8DFA-9672-71AD1EC12E32}"/>
              </a:ext>
            </a:extLst>
          </p:cNvPr>
          <p:cNvSpPr txBox="1"/>
          <p:nvPr/>
        </p:nvSpPr>
        <p:spPr>
          <a:xfrm>
            <a:off x="838200" y="1450142"/>
            <a:ext cx="33869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MSE: 2.76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MAE: 1.32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R²: 0.00</a:t>
            </a:r>
          </a:p>
          <a:p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CF23C8-4142-7EE4-93D7-49F342072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881" y="2482786"/>
            <a:ext cx="9098893" cy="129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81E73C-88E2-EEEB-E9D1-CF4F3094A327}"/>
              </a:ext>
            </a:extLst>
          </p:cNvPr>
          <p:cNvSpPr txBox="1"/>
          <p:nvPr/>
        </p:nvSpPr>
        <p:spPr>
          <a:xfrm>
            <a:off x="7078717" y="1379813"/>
            <a:ext cx="28472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proper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range:</a:t>
            </a:r>
            <a:endParaRPr lang="en-GB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MSE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0.1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0.3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R²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0.7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0.85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6077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  <a:t>Conclusion</a:t>
            </a:r>
            <a:endParaRPr kumimoji="1"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8282"/>
            <a:ext cx="10515600" cy="435133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fail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is single 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 enough feature engineering for machine learning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better machine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learning technology, such as polynomial regression.</a:t>
            </a:r>
          </a:p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Improvement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plan: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Think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perspective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business.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analyst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Chelsea,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model.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League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want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win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many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games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possible,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should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strengthen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game?</a:t>
            </a:r>
          </a:p>
          <a:p>
            <a:pPr marL="457200" lvl="1" indent="0">
              <a:buNone/>
            </a:pP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Think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use: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coach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team,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star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players,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financing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club</a:t>
            </a:r>
          </a:p>
          <a:p>
            <a:pPr marL="0" indent="0">
              <a:buNone/>
            </a:pPr>
            <a:endParaRPr kumimoji="1"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/>
              <a:t>👩🏻‍💻</a:t>
            </a:r>
            <a:endParaRPr lang="en-US" sz="5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52707"/>
            <a:ext cx="10515600" cy="5352585"/>
          </a:xfrm>
        </p:spPr>
        <p:txBody>
          <a:bodyPr>
            <a:normAutofit/>
          </a:bodyPr>
          <a:lstStyle/>
          <a:p>
            <a:pPr algn="ctr"/>
            <a:r>
              <a:rPr lang="en-GB" altLang="zh-CN" sz="7000" b="1" dirty="0">
                <a:latin typeface="Arial" panose="020B0604020202090204" pitchFamily="34" charset="0"/>
                <a:cs typeface="Arial" panose="020B0604020202090204" pitchFamily="34" charset="0"/>
              </a:rPr>
              <a:t>Q&amp;A   </a:t>
            </a:r>
            <a:br>
              <a:rPr lang="en-GB" altLang="zh-CN" sz="7000" b="1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en-GB" altLang="zh-CN" sz="7000" b="1" dirty="0">
                <a:latin typeface="Arial" panose="020B0604020202090204" pitchFamily="34" charset="0"/>
                <a:cs typeface="Arial" panose="020B0604020202090204" pitchFamily="34" charset="0"/>
              </a:rPr>
              <a:t>    </a:t>
            </a:r>
            <a:br>
              <a:rPr lang="en-GB" altLang="zh-CN" sz="7000" b="1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en-GB" altLang="zh-CN" sz="7000" b="1" dirty="0">
                <a:latin typeface="Arial" panose="020B0604020202090204" pitchFamily="34" charset="0"/>
                <a:cs typeface="Arial" panose="020B0604020202090204" pitchFamily="34" charset="0"/>
              </a:rPr>
              <a:t>Thank You</a:t>
            </a:r>
            <a:br>
              <a:rPr lang="en-GB" altLang="zh-CN" b="1" dirty="0">
                <a:latin typeface="Arial" panose="020B0604020202090204" pitchFamily="34" charset="0"/>
                <a:cs typeface="Arial" panose="020B0604020202090204" pitchFamily="34" charset="0"/>
              </a:rPr>
            </a:br>
            <a:endParaRPr kumimoji="1"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5934670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F89FA-D1DF-E0CE-1DDF-A9D0EF16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90204" pitchFamily="34" charset="0"/>
                <a:cs typeface="Arial" panose="020B0604020202090204" pitchFamily="34" charset="0"/>
              </a:rPr>
              <a:t>Contribution for the whole project.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24331-183B-FCF9-015A-499A8574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coding part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attached in the PyCharm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PPT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Slide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show: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Mostly done by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Ruoyao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PPT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script: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written by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Jun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Sun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Ruoyao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Yan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39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4819</TotalTime>
  <Words>1180</Words>
  <Application>Microsoft Macintosh PowerPoint</Application>
  <PresentationFormat>Widescreen</PresentationFormat>
  <Paragraphs>205</Paragraphs>
  <Slides>35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等线</vt:lpstr>
      <vt:lpstr>等线 Light</vt:lpstr>
      <vt:lpstr>Aptos</vt:lpstr>
      <vt:lpstr>Arial</vt:lpstr>
      <vt:lpstr>Office 主题​​</vt:lpstr>
      <vt:lpstr>English Premier League (EPL) Data 2000-2025</vt:lpstr>
      <vt:lpstr>Introduction to the Dataset </vt:lpstr>
      <vt:lpstr>Research Questions</vt:lpstr>
      <vt:lpstr>Data Cleaning Process</vt:lpstr>
      <vt:lpstr>Why are we doing it</vt:lpstr>
      <vt:lpstr>How did we do it:</vt:lpstr>
      <vt:lpstr>Pros and Cons</vt:lpstr>
      <vt:lpstr>Check list</vt:lpstr>
      <vt:lpstr>Summary Statistics</vt:lpstr>
      <vt:lpstr>Final programme display</vt:lpstr>
      <vt:lpstr>Exploratory Data Analysis </vt:lpstr>
      <vt:lpstr>Primary data research</vt:lpstr>
      <vt:lpstr>PowerPoint Presentation</vt:lpstr>
      <vt:lpstr>Distribution of home and away team goals (bar chart)</vt:lpstr>
      <vt:lpstr>Distribution of home and away team goals (bar chart)</vt:lpstr>
      <vt:lpstr>Distribution of home and away team goals (bar plot)</vt:lpstr>
      <vt:lpstr>Home vs Away Win Percentage (bar plot)</vt:lpstr>
      <vt:lpstr>Home vs Away Win Percentage (bar plot)</vt:lpstr>
      <vt:lpstr>Assumption Testing &amp; Prediction</vt:lpstr>
      <vt:lpstr>PowerPoint Presentation</vt:lpstr>
      <vt:lpstr>Liverpool vs Man City </vt:lpstr>
      <vt:lpstr>Features analysis for machine learning</vt:lpstr>
      <vt:lpstr>Average distribution of fouls, yellow cards, and red cards (Home vs Away)</vt:lpstr>
      <vt:lpstr>Average distribution of fouls, yellow cards, and red cards (Home vs Away)</vt:lpstr>
      <vt:lpstr>Analysis of the relationship between goal difference and match outcome</vt:lpstr>
      <vt:lpstr>Analysis of the relationship between goal difference and match outcome</vt:lpstr>
      <vt:lpstr>Prediction!</vt:lpstr>
      <vt:lpstr>Predicting goals using cards and corner kicks</vt:lpstr>
      <vt:lpstr>Predicting goals using cards and corner kicks</vt:lpstr>
      <vt:lpstr>Predicting goals using cards and corner kicks</vt:lpstr>
      <vt:lpstr>Predicting goals using cards and corner kicks</vt:lpstr>
      <vt:lpstr>Predicting result</vt:lpstr>
      <vt:lpstr>Conclusion</vt:lpstr>
      <vt:lpstr>Q&amp;A         Thank You </vt:lpstr>
      <vt:lpstr>Contribution for the whole project.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wenhan zhan</dc:creator>
  <cp:lastModifiedBy>Carren.Yan</cp:lastModifiedBy>
  <cp:revision>26</cp:revision>
  <cp:lastPrinted>2025-07-21T11:20:35Z</cp:lastPrinted>
  <dcterms:created xsi:type="dcterms:W3CDTF">2025-07-21T11:20:35Z</dcterms:created>
  <dcterms:modified xsi:type="dcterms:W3CDTF">2025-08-04T13:17:09Z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7BEBB41F3FEE6FD483227E68A757C3C0_42</vt:lpwstr>
  </property>
  <property fmtid="{D5CDD505-2E9C-101B-9397-08002B2CF9AE}" pid="3" name="KSOProductBuildVer">
    <vt:lpwstr>2052-6.12.0.8899</vt:lpwstr>
  </property>
</Properties>
</file>